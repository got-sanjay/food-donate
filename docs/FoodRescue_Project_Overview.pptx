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475488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3FBE89"/>
                </a:solidFill>
                <a:latin typeface="Aptos"/>
              </a:rPr>
              <a:t>FOODRESCUE  /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868680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AFC"/>
                </a:solidFill>
                <a:latin typeface="Aptos"/>
              </a:rPr>
              <a:t>Surplus food,
connected to community.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657600"/>
            <a:ext cx="75895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B8C7D3"/>
                </a:solidFill>
                <a:latin typeface="Aptos"/>
              </a:rPr>
              <a:t>Technical guide · frontend · backend · database · AI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6016752"/>
            <a:ext cx="6858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B8C7D3"/>
                </a:solidFill>
                <a:latin typeface="Aptos"/>
              </a:rPr>
              <a:t>Project prototype · Generated 2026-10-09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600200"/>
            <a:ext cx="2926080" cy="114300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1600200"/>
            <a:ext cx="54864" cy="1143000"/>
          </a:xfrm>
          <a:prstGeom prst="rect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19" y="1746504"/>
            <a:ext cx="257860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3FBE89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19" y="2148840"/>
            <a:ext cx="2578608" cy="4846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F7FAFC"/>
                </a:solidFill>
                <a:latin typeface="Aptos"/>
              </a:rPr>
              <a:t>Next.js · React · TypeScript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971800"/>
            <a:ext cx="2926080" cy="114300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2971800"/>
            <a:ext cx="54864" cy="114300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3118104"/>
            <a:ext cx="257860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F3B61F"/>
                </a:solidFill>
                <a:latin typeface="Aptos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3520440"/>
            <a:ext cx="2578608" cy="4846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F7FAFC"/>
                </a:solidFill>
                <a:latin typeface="Aptos"/>
              </a:rPr>
              <a:t>Prisma · SQLite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343400"/>
            <a:ext cx="2926080" cy="114300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4343400"/>
            <a:ext cx="54864" cy="1143000"/>
          </a:xfrm>
          <a:prstGeom prst="rect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4489704"/>
            <a:ext cx="257860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3FBE89"/>
                </a:solidFill>
                <a:latin typeface="Aptos"/>
              </a:rPr>
              <a:t>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4892040"/>
            <a:ext cx="2578608" cy="4846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F7FAFC"/>
                </a:solidFill>
                <a:latin typeface="Aptos"/>
              </a:rPr>
              <a:t>Google Gemini Developer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3FBE89"/>
                </a:solidFill>
                <a:latin typeface="Aptos"/>
              </a:rPr>
              <a:t>FOODRESCUE  / 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F7FAFC"/>
                </a:solidFill>
                <a:latin typeface="Aptos"/>
              </a:rPr>
              <a:t>What FoodRescue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B8C7D3"/>
                </a:solidFill>
                <a:latin typeface="Aptos"/>
              </a:rPr>
              <a:t>A prototype workflow for donors, NGO operators and administrators.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B8C7D3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74720" cy="320040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4864" cy="3200400"/>
          </a:xfrm>
          <a:prstGeom prst="rect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20824"/>
            <a:ext cx="312724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3FBE89"/>
                </a:solidFill>
                <a:latin typeface="Aptos"/>
              </a:rPr>
              <a:t>01  DONATE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3127248" cy="2542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F7FAFC"/>
                </a:solidFill>
                <a:latin typeface="Aptos"/>
              </a:rPr>
              <a:t>Provide pickup location, food type, quantity and expiry. Review NGO options and broadcast a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474720" cy="320040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54864" cy="320040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20824"/>
            <a:ext cx="312724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F3B61F"/>
                </a:solidFill>
                <a:latin typeface="Aptos"/>
              </a:rPr>
              <a:t>02  RESPOND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23160"/>
            <a:ext cx="3127248" cy="2542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F7FAFC"/>
                </a:solidFill>
                <a:latin typeface="Aptos"/>
              </a:rPr>
              <a:t>Approved NGOs see eligible requests in their region, accept or decline, and update pickup progress.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474720" cy="320040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54864" cy="3200400"/>
          </a:xfrm>
          <a:prstGeom prst="rect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20824"/>
            <a:ext cx="312724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3FBE89"/>
                </a:solidFill>
                <a:latin typeface="Aptos"/>
              </a:rPr>
              <a:t>03  OPERATE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23160"/>
            <a:ext cx="3127248" cy="2542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F7FAFC"/>
                </a:solidFill>
                <a:latin typeface="Aptos"/>
              </a:rPr>
              <a:t>Administrators review NGO accounts, assign regions, manage access and view operational summaries.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486400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B8C7D3"/>
                </a:solidFill>
                <a:latin typeface="Aptos"/>
              </a:rPr>
              <a:t>Prototype note: sample NGO listings/actions are not independently verified.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3FBE89"/>
                </a:solidFill>
                <a:latin typeface="Aptos"/>
              </a:rPr>
              <a:t>FOODRESCUE  / 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F7FAFC"/>
                </a:solidFill>
                <a:latin typeface="Aptos"/>
              </a:rPr>
              <a:t>Frontend: pages and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B8C7D3"/>
                </a:solidFill>
                <a:latin typeface="Aptos"/>
              </a:rPr>
              <a:t>Next.js App Router · React 19 · TypeScript · Tailwind CSS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B8C7D3"/>
                </a:solidFill>
                <a:latin typeface="Aptos"/>
              </a:rPr>
              <a:t>03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100584" cy="100584"/>
          </a:xfrm>
          <a:prstGeom prst="ellipse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635508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F7FAFC"/>
                </a:solidFill>
                <a:latin typeface="Aptos"/>
              </a:rPr>
              <a:t>Home page: donor entry, hero and impact sections.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33472"/>
            <a:ext cx="100584" cy="100584"/>
          </a:xfrm>
          <a:prstGeom prst="ellipse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42032"/>
            <a:ext cx="635508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F7FAFC"/>
                </a:solidFill>
                <a:latin typeface="Aptos"/>
              </a:rPr>
              <a:t>NGO selection: donation details and available organizations.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346704"/>
            <a:ext cx="100584" cy="100584"/>
          </a:xfrm>
          <a:prstGeom prst="ellipse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255264"/>
            <a:ext cx="635508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F7FAFC"/>
                </a:solidFill>
                <a:latin typeface="Aptos"/>
              </a:rPr>
              <a:t>NGO portal: registration/login, request feed and status updates.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059935"/>
            <a:ext cx="100584" cy="100584"/>
          </a:xfrm>
          <a:prstGeom prst="ellipse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968496"/>
            <a:ext cx="635508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F7FAFC"/>
                </a:solidFill>
                <a:latin typeface="Aptos"/>
              </a:rPr>
              <a:t>Admin portal: protected sign-in and operations dashboard.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773168"/>
            <a:ext cx="100584" cy="100584"/>
          </a:xfrm>
          <a:prstGeom prst="ellipse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81728"/>
            <a:ext cx="635508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F7FAFC"/>
                </a:solidFill>
                <a:latin typeface="Aptos"/>
              </a:rPr>
              <a:t>Global floating help chatbot and shared site navigation.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920240"/>
            <a:ext cx="3291840" cy="329184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920240"/>
            <a:ext cx="54864" cy="329184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2066544"/>
            <a:ext cx="294436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F3B61F"/>
                </a:solidFill>
                <a:latin typeface="Aptos"/>
              </a:rPr>
              <a:t>KEY UI 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2468880"/>
            <a:ext cx="2944368" cy="2633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hero-section
ngo-selection
ngo-dashboard
admin-dashboard
help-chatbot
site-header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607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B8C7D3"/>
                </a:solidFill>
                <a:latin typeface="Aptos"/>
              </a:rPr>
              <a:t>Key source areas: app/page.tsx · app/select-ngo · app/ngo · app/admin · components/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3FBE89"/>
                </a:solidFill>
                <a:latin typeface="Aptos"/>
              </a:rPr>
              <a:t>FOODRESCUE  / 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F7FAFC"/>
                </a:solidFill>
                <a:latin typeface="Aptos"/>
              </a:rPr>
              <a:t>Backend: API and request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B8C7D3"/>
                </a:solidFill>
                <a:latin typeface="Aptos"/>
              </a:rPr>
              <a:t>Route handlers validate input and use Prisma for persistence.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B8C7D3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74720" cy="338328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4864" cy="3383280"/>
          </a:xfrm>
          <a:prstGeom prst="rect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75104"/>
            <a:ext cx="312724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3FBE89"/>
                </a:solidFill>
                <a:latin typeface="Aptos"/>
              </a:rPr>
              <a:t>DONATION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77440"/>
            <a:ext cx="3127248" cy="2724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F7FAFC"/>
                </a:solidFill>
                <a:latin typeface="Aptos"/>
              </a:rPr>
              <a:t>POST /api/donations
GET /api/donations
Donation item/status routes
Validates location, quantity, unit, expiry and coordinates.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474720" cy="338328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54864" cy="338328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975104"/>
            <a:ext cx="312724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F3B61F"/>
                </a:solidFill>
                <a:latin typeface="Aptos"/>
              </a:rPr>
              <a:t>NGO 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77440"/>
            <a:ext cx="3127248" cy="2724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F7FAFC"/>
                </a:solidFill>
                <a:latin typeface="Aptos"/>
              </a:rPr>
              <a:t>NGO auth and availability
Request feed
Accept / decline
Pickup status progression
Region, availability and expiry eligibility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474720" cy="338328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54864" cy="3383280"/>
          </a:xfrm>
          <a:prstGeom prst="rect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75104"/>
            <a:ext cx="312724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3FBE89"/>
                </a:solidFill>
                <a:latin typeface="Aptos"/>
              </a:rPr>
              <a:t>ADMIN +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77440"/>
            <a:ext cx="3127248" cy="2724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F7FAFC"/>
                </a:solidFill>
                <a:latin typeface="Aptos"/>
              </a:rPr>
              <a:t>Admin auth/dashboard/NGO management
POST /api/help → Gemini
GET /api/location/reverse → Nominatim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B8C7D3"/>
                </a:solidFill>
                <a:latin typeface="Aptos"/>
              </a:rPr>
              <a:t>Acceptance uses conditional database updates to reduce double-claim races.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3FBE89"/>
                </a:solidFill>
                <a:latin typeface="Aptos"/>
              </a:rPr>
              <a:t>FOODRESCUE  / 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F7FAFC"/>
                </a:solidFill>
                <a:latin typeface="Aptos"/>
              </a:rPr>
              <a:t>Database and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B8C7D3"/>
                </a:solidFill>
                <a:latin typeface="Aptos"/>
              </a:rPr>
              <a:t>Prisma ORM · SQLite local database · versioned migrations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B8C7D3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474720" cy="210312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54864" cy="2103120"/>
          </a:xfrm>
          <a:prstGeom prst="rect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20824"/>
            <a:ext cx="312724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3FBE89"/>
                </a:solidFill>
                <a:latin typeface="Aptos"/>
              </a:rPr>
              <a:t>Donation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3127248" cy="144475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F7FAFC"/>
                </a:solidFill>
                <a:latin typeface="Aptos"/>
              </a:rPr>
              <a:t>Pickup + optional coordinates
Food + quantity + expiry
Region + status + selected NGO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474720" cy="210312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54864" cy="210312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20824"/>
            <a:ext cx="312724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F3B61F"/>
                </a:solidFill>
                <a:latin typeface="Aptos"/>
              </a:rPr>
              <a:t>NgoAccount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23160"/>
            <a:ext cx="3127248" cy="144475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F7FAFC"/>
                </a:solidFill>
                <a:latin typeface="Aptos"/>
              </a:rPr>
              <a:t>Name + unique key
Scrypt password hash
Region + active/review/availability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74519"/>
            <a:ext cx="3474720" cy="210312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874519"/>
            <a:ext cx="54864" cy="2103120"/>
          </a:xfrm>
          <a:prstGeom prst="rect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2020824"/>
            <a:ext cx="312724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3FBE89"/>
                </a:solidFill>
                <a:latin typeface="Aptos"/>
              </a:rPr>
              <a:t>NgoRequestDecline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423160"/>
            <a:ext cx="3127248" cy="144475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F7FAFC"/>
                </a:solidFill>
                <a:latin typeface="Aptos"/>
              </a:rPr>
              <a:t>Donation ↔ NGO decline record
Unique pair prevents duplicate declines
Cascading relations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1051560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F7FAFC"/>
                </a:solidFill>
                <a:latin typeface="Aptos"/>
              </a:rPr>
              <a:t>Connection: DATABASE_URL → Prisma datasource (SQLite). Local database documented at prisma/dev.db. Schema: prisma/schema.prisma; migrations: prisma/migrations/.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B8C7D3"/>
                </a:solidFill>
                <a:latin typeface="Aptos"/>
              </a:rPr>
              <a:t>Commands: npm run db:migrate · npm run db:studio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3FBE89"/>
                </a:solidFill>
                <a:latin typeface="Aptos"/>
              </a:rPr>
              <a:t>FOODRESCUE  / 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F7FAFC"/>
                </a:solidFill>
                <a:latin typeface="Aptos"/>
              </a:rPr>
              <a:t>Chatbot: Gemini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B8C7D3"/>
                </a:solidFill>
                <a:latin typeface="Aptos"/>
              </a:rPr>
              <a:t>Browser chat UI → Next.js API route → Google Gemini Developer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B8C7D3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383280" cy="347472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54864" cy="3474720"/>
          </a:xfrm>
          <a:prstGeom prst="rect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75104"/>
            <a:ext cx="303580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3FBE89"/>
                </a:solidFill>
                <a:latin typeface="Aptos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3035808" cy="2816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components/help-chatbot.tsx
Sends recent conversation to POST /api/help. Key is never sent from the browser.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347472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54864" cy="347472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75104"/>
            <a:ext cx="303580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F3B61F"/>
                </a:solidFill>
                <a:latin typeface="Aptos"/>
              </a:rPr>
              <a:t>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035808" cy="2816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F7FAFC"/>
                </a:solidFill>
                <a:latin typeface="Aptos"/>
              </a:rPr>
              <a:t>app/api/help/route.ts
Uses @google/genai. Reads GEMINI_API_KEY. Model override via GEMINI_MODEL; default in source: gemini-3.8-flash.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28800"/>
            <a:ext cx="3383280" cy="347472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828800"/>
            <a:ext cx="54864" cy="3474720"/>
          </a:xfrm>
          <a:prstGeom prst="rect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975104"/>
            <a:ext cx="303580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3FBE89"/>
                </a:solidFill>
                <a:latin typeface="Aptos"/>
              </a:rPr>
              <a:t>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377440"/>
            <a:ext cx="3035808" cy="2816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F7FAFC"/>
                </a:solidFill>
                <a:latin typeface="Aptos"/>
              </a:rPr>
              <a:t>FoodRescue system instruction
Message and token limits
In-memory rate limit
No live web search grounding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42416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B8C7D3"/>
                </a:solidFill>
                <a:latin typeface="Aptos"/>
              </a:rPr>
              <a:t>Keep the key in server-side .env / deployment secrets; never use NEXT_PUBLIC_GEMINI_API_KEY.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3FBE89"/>
                </a:solidFill>
                <a:latin typeface="Aptos"/>
              </a:rPr>
              <a:t>FOODRESCUE  / 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F7FAFC"/>
                </a:solidFill>
                <a:latin typeface="Aptos"/>
              </a:rPr>
              <a:t>Authentication and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B8C7D3"/>
                </a:solidFill>
                <a:latin typeface="Aptos"/>
              </a:rPr>
              <a:t>Signed HTTP-only sessions; NGO credentials verified against database.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B8C7D3"/>
                </a:solidFill>
                <a:latin typeface="Aptos"/>
              </a:rPr>
              <a:t>07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100584" cy="100584"/>
          </a:xfrm>
          <a:prstGeom prst="ellipse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635508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NGO passwords: Node.js scrypt with random salts.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15184"/>
            <a:ext cx="100584" cy="100584"/>
          </a:xfrm>
          <a:prstGeom prst="ellipse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23744"/>
            <a:ext cx="635508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NGO sessions: HMAC-SHA256 signed; seven-day expiry.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310128"/>
            <a:ext cx="100584" cy="100584"/>
          </a:xfrm>
          <a:prstGeom prst="ellipse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218688"/>
            <a:ext cx="635508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Admin credentials: environment variables; signed session, eight-hour expiry.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005072"/>
            <a:ext cx="100584" cy="100584"/>
          </a:xfrm>
          <a:prstGeom prst="ellipse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913632"/>
            <a:ext cx="635508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Cookies are HTTP-only; secure flag enabled in production.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700016"/>
            <a:ext cx="100584" cy="100584"/>
          </a:xfrm>
          <a:prstGeom prst="ellipse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35508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Production needs a unique 32+ byte session secret and strong admin password.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965960"/>
            <a:ext cx="3383280" cy="320040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965960"/>
            <a:ext cx="54864" cy="320040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2112264"/>
            <a:ext cx="303580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F3B61F"/>
                </a:solidFill>
                <a:latin typeface="Aptos"/>
              </a:rPr>
              <a:t>CREDENTIAL HYGIENE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2514600"/>
            <a:ext cx="3035808" cy="2542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F7FAFC"/>
                </a:solidFill>
                <a:latin typeface="Aptos"/>
              </a:rPr>
              <a:t>Use ignored .env or .env.local for real keys.
Share .env.example with placeholders only.
Rotate the Gemini key previously found in the sample file.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3FBE89"/>
                </a:solidFill>
                <a:latin typeface="Aptos"/>
              </a:rPr>
              <a:t>FOODRESCUE  / 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F7FAFC"/>
                </a:solidFill>
                <a:latin typeface="Aptos"/>
              </a:rPr>
              <a:t>External services and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B8C7D3"/>
                </a:solidFill>
                <a:latin typeface="Aptos"/>
              </a:rPr>
              <a:t>Supporting services used by the current 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B8C7D3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301752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4864" cy="3017520"/>
          </a:xfrm>
          <a:prstGeom prst="rect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75104"/>
            <a:ext cx="303580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3FBE89"/>
                </a:solidFill>
                <a:latin typeface="Aptos"/>
              </a:rPr>
              <a:t>OPENSTREETMAP NOMINATIM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35808" cy="23591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Reverse geocoding from latitude/longitude to address and region. Server-side request includes User-Agent and timeout.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301752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54864" cy="301752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75104"/>
            <a:ext cx="303580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F3B61F"/>
                </a:solidFill>
                <a:latin typeface="Aptos"/>
              </a:rPr>
              <a:t>GEMINI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035808" cy="23591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Generates conversational assistant responses. No live search is configured; users should verify time-sensitive claims.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83280" cy="301752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54864" cy="3017520"/>
          </a:xfrm>
          <a:prstGeom prst="rect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75104"/>
            <a:ext cx="303580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3FBE89"/>
                </a:solidFill>
                <a:latin typeface="Aptos"/>
              </a:rPr>
              <a:t>VERCEL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77440"/>
            <a:ext cx="3035808" cy="23591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Analytics component is included only when NODE_ENV is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AFC"/>
                </a:solidFill>
                <a:latin typeface="Aptos"/>
              </a:rPr>
              <a:t>Donor browser → Next.js UI → API route → Prisma/SQLite or external provider → JSON response →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3FBE89"/>
                </a:solidFill>
                <a:latin typeface="Aptos"/>
              </a:rPr>
              <a:t>FOODRESCUE  / 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F7FAFC"/>
                </a:solidFill>
                <a:latin typeface="Aptos"/>
              </a:rPr>
              <a:t>Run and configure locally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B8C7D3"/>
                </a:solidFill>
                <a:latin typeface="Aptos"/>
              </a:rPr>
              <a:t>Environment configuration and common npm scripts.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B8C7D3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029200" cy="356616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54864" cy="3566160"/>
          </a:xfrm>
          <a:prstGeom prst="rect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75104"/>
            <a:ext cx="468172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3FBE89"/>
                </a:solidFill>
                <a:latin typeface="Aptos"/>
              </a:rPr>
              <a:t>ENVIRONMENT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4681728" cy="290779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DATABASE_URL — SQLite connection
NGO_SESSION_SECRET — signs sessions
ADMIN_USERNAME / ADMIN_PASSWORD
GEMINI_API_KEY — private server key
GEMINI_MODEL — optional model override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828800"/>
            <a:ext cx="5120640" cy="3566160"/>
          </a:xfrm>
          <a:prstGeom prst="roundRect">
            <a:avLst/>
          </a:prstGeom>
          <a:solidFill>
            <a:srgbClr val="1B3349"/>
          </a:solidFill>
          <a:ln>
            <a:solidFill>
              <a:srgbClr val="36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828800"/>
            <a:ext cx="54864" cy="356616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975104"/>
            <a:ext cx="477316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F3B61F"/>
                </a:solidFill>
                <a:latin typeface="Aptos"/>
              </a:rPr>
              <a:t>DEVELOPER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377440"/>
            <a:ext cx="4773168" cy="290779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1  Install dependencies
2  Copy .env.example to .env; set local values
3  npm run db:migrate
4  npm run dev
5  npm run build / npm 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06440"/>
            <a:ext cx="106984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B8C7D3"/>
                </a:solidFill>
                <a:latin typeface="Aptos"/>
              </a:rPr>
              <a:t>Package metadata specifies pnpm; README documents npm commands. Use the package manager/lockfile chosen for this checkout consistently.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3FBE89"/>
                </a:solidFill>
                <a:latin typeface="Aptos"/>
              </a:rPr>
              <a:t>FOODRESCUE  / 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F7FAFC"/>
                </a:solidFill>
                <a:latin typeface="Aptos"/>
              </a:rPr>
              <a:t>Current 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B8C7D3"/>
                </a:solidFill>
                <a:latin typeface="Aptos"/>
              </a:rPr>
              <a:t>Important before treating the prototype as a production service.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B8C7D3"/>
                </a:solidFill>
                <a:latin typeface="Aptos"/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01952"/>
            <a:ext cx="100584" cy="100584"/>
          </a:xfrm>
          <a:prstGeom prst="ellipse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0512"/>
            <a:ext cx="10561320" cy="59435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Sample NGO data and actions are not independently verified; no real pickup or food-safety guarantee.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51176"/>
            <a:ext cx="100584" cy="100584"/>
          </a:xfrm>
          <a:prstGeom prst="ellipse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59736"/>
            <a:ext cx="10561320" cy="59435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SQLite is configured locally; production database and deployment topology need explicit planning.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200400"/>
            <a:ext cx="100584" cy="100584"/>
          </a:xfrm>
          <a:prstGeom prst="ellipse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10561320" cy="59435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Chat rate limits are in process memory; production scale needs a shared limiter and monitoring.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849623"/>
            <a:ext cx="100584" cy="100584"/>
          </a:xfrm>
          <a:prstGeom prst="ellipse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58183"/>
            <a:ext cx="10561320" cy="59435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No live web search for AI answers; evaluate data privacy, provider terms, costs and user disclosures.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498848"/>
            <a:ext cx="100584" cy="100584"/>
          </a:xfrm>
          <a:prstGeom prst="ellipse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07408"/>
            <a:ext cx="10561320" cy="59435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next.config.mjs ignores TypeScript build errors; re-enable checks and resolve diagnostics before production.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148071"/>
            <a:ext cx="100584" cy="100584"/>
          </a:xfrm>
          <a:prstGeom prst="ellipse">
            <a:avLst/>
          </a:prstGeom>
          <a:solidFill>
            <a:srgbClr val="3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10561320" cy="59435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Rotate exposed Gemini key; audit Git history and keep all secrets out of generated/shareable assets.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104241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B8C7D3"/>
                </a:solidFill>
                <a:latin typeface="Aptos"/>
              </a:rPr>
              <a:t>Source of truth: workspace source, schema/migrations, package.json and README.md · 2026-10-09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FoodRescue Project Overview</dc:title>
  <dc:subject>Application architecture, frontend, backend, database and Gemini chatbot</dc:subject>
  <dc:creator>FoodRescue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